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5A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21040" y="-548640"/>
            <a:ext cx="4389120" cy="4389120"/>
          </a:xfrm>
          <a:prstGeom prst="roundRect">
            <a:avLst/>
          </a:prstGeom>
          <a:solidFill>
            <a:srgbClr val="2B6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235440" y="3017520"/>
            <a:ext cx="4114800" cy="4114800"/>
          </a:xfrm>
          <a:prstGeom prst="roundRect">
            <a:avLst/>
          </a:prstGeom>
          <a:solidFill>
            <a:srgbClr val="1E4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6217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D7F067"/>
                </a:solidFill>
                <a:latin typeface="Aptos"/>
              </a:defRPr>
            </a:pPr>
            <a:r>
              <a:t>CAMPUS ENGAGEMENT · CREATIVE REWARDS · GEMMA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7040880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5400" b="1">
                <a:solidFill>
                  <a:srgbClr val="FFFFFF"/>
                </a:solidFill>
                <a:latin typeface="Aptos Display"/>
              </a:defRPr>
            </a:pPr>
            <a:r>
              <a:t>CampusLoop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743200"/>
            <a:ext cx="6766560" cy="9601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Make campus count.</a:t>
            </a:r>
          </a:p>
          <a:p>
            <a:pPr>
              <a:spcAft>
                <a:spcPts val="11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Earn. Create. Belong.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5120640"/>
            <a:ext cx="62179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D8E7DA"/>
                </a:solidFill>
                <a:latin typeface="Aptos"/>
              </a:defRPr>
            </a:pPr>
            <a:r>
              <a:t>A rewards loop connecting students, campus moments, creative contributions, and the canteen.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325880"/>
            <a:ext cx="2834640" cy="3154680"/>
          </a:xfrm>
          <a:prstGeom prst="roundRect">
            <a:avLst/>
          </a:prstGeom>
          <a:solidFill>
            <a:srgbClr val="D7F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691640"/>
            <a:ext cx="22860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235A3C"/>
                </a:solidFill>
                <a:latin typeface="Aptos"/>
              </a:defRPr>
            </a:pPr>
            <a:r>
              <a:t>YOUR CAMPUS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331720"/>
            <a:ext cx="210312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1100"/>
              </a:spcAft>
              <a:defRPr sz="2200" b="1">
                <a:solidFill>
                  <a:srgbClr val="235A3C"/>
                </a:solidFill>
                <a:latin typeface="Aptos Display"/>
              </a:defRPr>
            </a:pPr>
            <a:r>
              <a:t>SHOW UP</a:t>
            </a:r>
          </a:p>
          <a:p>
            <a:pPr algn="ctr">
              <a:spcAft>
                <a:spcPts val="1100"/>
              </a:spcAft>
              <a:defRPr sz="2200" b="1">
                <a:solidFill>
                  <a:srgbClr val="235A3C"/>
                </a:solidFill>
                <a:latin typeface="Aptos Display"/>
              </a:defRPr>
            </a:pPr>
            <a:r>
              <a:t>CREATE</a:t>
            </a:r>
          </a:p>
          <a:p>
            <a:pPr algn="ctr">
              <a:spcAft>
                <a:spcPts val="1100"/>
              </a:spcAft>
              <a:defRPr sz="2200" b="1">
                <a:solidFill>
                  <a:srgbClr val="235A3C"/>
                </a:solidFill>
                <a:latin typeface="Aptos Display"/>
              </a:defRPr>
            </a:pPr>
            <a:r>
              <a:t>REDEEM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6446520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800" b="1">
                <a:solidFill>
                  <a:srgbClr val="C9D8CB"/>
                </a:solidFill>
                <a:latin typeface="Aptos"/>
              </a:defRPr>
            </a:pPr>
            <a:r>
              <a:t>HACKATHON CONCEPT · DEMO ACTIVITIES ARE SAMPLE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35A3C"/>
                </a:solidFill>
                <a:latin typeface="Aptos"/>
              </a:defRPr>
            </a:pPr>
            <a:r>
              <a:t>01 · 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E3026"/>
                </a:solidFill>
                <a:latin typeface="Aptos Display"/>
              </a:defRPr>
            </a:pPr>
            <a:r>
              <a:t>Campus energy is everywhere. Recognition isn't.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800" b="1">
                <a:solidFill>
                  <a:srgbClr val="69786D"/>
                </a:solidFill>
                <a:latin typeface="Aptos"/>
              </a:defRPr>
            </a:pPr>
            <a:r>
              <a:t>CAMPUSLOOP  ·  HACKATHON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69786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47472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37360"/>
            <a:ext cx="305409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35A3C"/>
                </a:solidFill>
                <a:latin typeface="Aptos"/>
              </a:defRPr>
            </a:pPr>
            <a:r>
              <a:t>TODAY'S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94560"/>
            <a:ext cx="3054096" cy="2743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Events, volunteering, student design, and canteen rewards are fragmented.</a:t>
            </a:r>
          </a:p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Participation can go unnoticed. Small creative contributions lack a clear path to recognition.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554480"/>
            <a:ext cx="347472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737360"/>
            <a:ext cx="305409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35A3C"/>
                </a:solidFill>
                <a:latin typeface="Aptos"/>
              </a:defRPr>
            </a:pPr>
            <a:r>
              <a:t>CAMPUSLOOP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2194560"/>
            <a:ext cx="3054096" cy="2743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One student-first place to discover activities, submit original artwork, earn transparent tokens, and redeem canteen treats.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47472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2" y="1737360"/>
            <a:ext cx="305409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6AD72"/>
                </a:solidFill>
                <a:latin typeface="Aptos"/>
              </a:defRPr>
            </a:pPr>
            <a:r>
              <a:t>THE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2" y="2194560"/>
            <a:ext cx="3054096" cy="2743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More visible opportunities.</a:t>
            </a:r>
          </a:p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Clear review and reward rules.</a:t>
            </a:r>
          </a:p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A practical engagement loop that students can understand.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532120"/>
            <a:ext cx="1024128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235A3C"/>
                </a:solidFill>
                <a:latin typeface="Aptos"/>
              </a:defRPr>
            </a:pPr>
            <a:r>
              <a:t>A demo platform to make participation easier to discover and contributions easier to value.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35A3C"/>
                </a:solidFill>
                <a:latin typeface="Aptos"/>
              </a:defRPr>
            </a:pPr>
            <a:r>
              <a:t>02 · STUDENT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E3026"/>
                </a:solidFill>
                <a:latin typeface="Aptos Display"/>
              </a:defRPr>
            </a:pPr>
            <a:r>
              <a:t>A simple loop from discovery to delight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800" b="1">
                <a:solidFill>
                  <a:srgbClr val="69786D"/>
                </a:solidFill>
                <a:latin typeface="Aptos"/>
              </a:defRPr>
            </a:pPr>
            <a:r>
              <a:t>CAMPUSLOOP  ·  HACKATHON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69786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2039112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502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35A3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1691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E3026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169164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9786D"/>
                </a:solidFill>
                <a:latin typeface="Aptos"/>
              </a:defRPr>
            </a:pPr>
            <a:r>
              <a:t>Find workshops, fests, competitions, and volunteering.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4912" y="2880360"/>
            <a:ext cx="246888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235A3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0088" y="1965960"/>
            <a:ext cx="2039112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2968" y="2176272"/>
            <a:ext cx="502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35A3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8" y="2697480"/>
            <a:ext cx="1691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E3026"/>
                </a:solidFill>
                <a:latin typeface="Aptos"/>
              </a:defRPr>
            </a:pPr>
            <a:r>
              <a:t>Participate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2968" y="3246120"/>
            <a:ext cx="169164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9786D"/>
                </a:solidFill>
                <a:latin typeface="Aptos"/>
              </a:defRPr>
            </a:pPr>
            <a:r>
              <a:t>Request review; approved participation earns the configured activity reward.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880360"/>
            <a:ext cx="246888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235A3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94376" y="1965960"/>
            <a:ext cx="2039112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77256" y="2176272"/>
            <a:ext cx="502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35A3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77256" y="2697480"/>
            <a:ext cx="1691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E3026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77256" y="3246120"/>
            <a:ext cx="169164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9786D"/>
                </a:solidFill>
                <a:latin typeface="Aptos"/>
              </a:defRPr>
            </a:pPr>
            <a:r>
              <a:t>Submit an event poster, banner, or canteen promotion.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2880360"/>
            <a:ext cx="246888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235A3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98664" y="1965960"/>
            <a:ext cx="2039112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81544" y="2176272"/>
            <a:ext cx="502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35A3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81544" y="2697480"/>
            <a:ext cx="1691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E3026"/>
                </a:solidFill>
                <a:latin typeface="Aptos"/>
              </a:defRPr>
            </a:pPr>
            <a:r>
              <a:t>Earn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1544" y="3246120"/>
            <a:ext cx="169164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9786D"/>
                </a:solidFill>
                <a:latin typeface="Aptos"/>
              </a:defRPr>
            </a:pPr>
            <a:r>
              <a:t>See every approved credit and spend in a persistent wallet ledger.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37776" y="2880360"/>
            <a:ext cx="246888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235A3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02952" y="1965960"/>
            <a:ext cx="2039112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85832" y="2176272"/>
            <a:ext cx="502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35A3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85832" y="2697480"/>
            <a:ext cx="1691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E3026"/>
                </a:solidFill>
                <a:latin typeface="Aptos"/>
              </a:defRPr>
            </a:pPr>
            <a:r>
              <a:t>Redeem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85832" y="3246120"/>
            <a:ext cx="169164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9786D"/>
                </a:solidFill>
                <a:latin typeface="Aptos"/>
              </a:defRPr>
            </a:pPr>
            <a:r>
              <a:t>Use tokens for a canteen refreshment or place an order.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257800"/>
            <a:ext cx="102412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235A3C"/>
                </a:solidFill>
                <a:latin typeface="Aptos"/>
              </a:defRPr>
            </a:pPr>
            <a:r>
              <a:t>Every token change is validated on the server and recorded with its reason.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35A3C"/>
                </a:solidFill>
                <a:latin typeface="Aptos"/>
              </a:defRPr>
            </a:pPr>
            <a:r>
              <a:t>03 · TOKENS &amp; CANTEEN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E3026"/>
                </a:solidFill>
                <a:latin typeface="Aptos Display"/>
              </a:defRPr>
            </a:pPr>
            <a:r>
              <a:t>A wallet students can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800" b="1">
                <a:solidFill>
                  <a:srgbClr val="69786D"/>
                </a:solidFill>
                <a:latin typeface="Aptos"/>
              </a:defRPr>
            </a:pPr>
            <a:r>
              <a:t>CAMPUSLOOP  ·  HACKATHON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69786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114800" cy="4206240"/>
          </a:xfrm>
          <a:prstGeom prst="roundRect">
            <a:avLst/>
          </a:prstGeom>
          <a:solidFill>
            <a:srgbClr val="23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D7F067"/>
                </a:solidFill>
                <a:latin typeface="Aptos"/>
              </a:defRPr>
            </a:pPr>
            <a:r>
              <a:t>BASE REWARD CONVERSION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14600"/>
            <a:ext cx="347472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100 tokens = ₹10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383280"/>
            <a:ext cx="338328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Demo smoothie</a:t>
            </a: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100 tokens · ₹10 reward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800600"/>
            <a:ext cx="338328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AE7DC"/>
                </a:solidFill>
                <a:latin typeface="Aptos"/>
              </a:defRPr>
            </a:pPr>
            <a:r>
              <a:t>Other reward prices are set by the admin.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1554480"/>
            <a:ext cx="27889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22392" y="1737360"/>
            <a:ext cx="236829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35A3C"/>
                </a:solidFill>
                <a:latin typeface="Aptos"/>
              </a:defRPr>
            </a:pPr>
            <a:r>
              <a:t>EARN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2392" y="2194560"/>
            <a:ext cx="2368296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Approved participation</a:t>
            </a:r>
          </a:p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Approved creative 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54480"/>
            <a:ext cx="27889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1737360"/>
            <a:ext cx="236829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6AD72"/>
                </a:solidFill>
                <a:latin typeface="Aptos"/>
              </a:defRPr>
            </a:pPr>
            <a:r>
              <a:t>SPEND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2194560"/>
            <a:ext cx="2368296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Reward catalogue</a:t>
            </a:r>
          </a:p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Canteen orders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3611880"/>
            <a:ext cx="580644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22392" y="3794760"/>
            <a:ext cx="538581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35A3C"/>
                </a:solidFill>
                <a:latin typeface="Aptos"/>
              </a:defRPr>
            </a:pPr>
            <a:r>
              <a:t>TRUST THE LEDGER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2392" y="4251960"/>
            <a:ext cx="5385816" cy="1371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Atomic debit on valid checkout · no negative balance · idempotent requests · eligible pending-order refund exactly once.</a:t>
            </a:r>
          </a:p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Student history is read from SQLite, never invented by 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35A3C"/>
                </a:solidFill>
                <a:latin typeface="Aptos"/>
              </a:defRPr>
            </a:pPr>
            <a:r>
              <a:t>04 · POSTER &amp; BANNER REWARDS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E3026"/>
                </a:solidFill>
                <a:latin typeface="Aptos Display"/>
              </a:defRPr>
            </a:pPr>
            <a:r>
              <a:t>Student creativity becomes a recognized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800" b="1">
                <a:solidFill>
                  <a:srgbClr val="69786D"/>
                </a:solidFill>
                <a:latin typeface="Aptos"/>
              </a:defRPr>
            </a:pPr>
            <a:r>
              <a:t>CAMPUSLOOP  ·  HACKATHON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69786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2900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83080"/>
            <a:ext cx="300837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35A3C"/>
                </a:solidFill>
                <a:latin typeface="Aptos"/>
              </a:defRPr>
            </a:pPr>
            <a:r>
              <a:t>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40280"/>
            <a:ext cx="3008376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Original event poster, banner, or canteen promotion.</a:t>
            </a:r>
          </a:p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PNG, JPG, WebP · 5 MB maximum · private owner/admin image access.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00200"/>
            <a:ext cx="342900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783080"/>
            <a:ext cx="300837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35A3C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2240280"/>
            <a:ext cx="3008376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Admin checks the submission and approves or rejects it.</a:t>
            </a:r>
          </a:p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Every contribution has an explicit Pending Review / Approved / Rejected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600200"/>
            <a:ext cx="342900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0456" y="1783080"/>
            <a:ext cx="300837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35A3C"/>
                </a:solidFill>
                <a:latin typeface="Aptos"/>
              </a:defRPr>
            </a:pPr>
            <a:r>
              <a:t>REWARD ONCE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2240280"/>
            <a:ext cx="3008376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Admin configures the token award.</a:t>
            </a:r>
          </a:p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Approval and ledger credit share one database transaction; repeat awards are blocked.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486400"/>
            <a:ext cx="101498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235A3C"/>
                </a:solidFill>
                <a:latin typeface="Aptos"/>
              </a:defRPr>
            </a:pPr>
            <a:r>
              <a:t>Students can always see their own submission history, review status, and earned tokens.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35A3C"/>
                </a:solidFill>
                <a:latin typeface="Aptos"/>
              </a:defRPr>
            </a:pPr>
            <a:r>
              <a:t>05 · ACADEMIC CALENDAR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E3026"/>
                </a:solidFill>
                <a:latin typeface="Aptos Display"/>
              </a:defRPr>
            </a:pPr>
            <a:r>
              <a:t>Turn campus dates into visible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800" b="1">
                <a:solidFill>
                  <a:srgbClr val="69786D"/>
                </a:solidFill>
                <a:latin typeface="Aptos"/>
              </a:defRPr>
            </a:pPr>
            <a:r>
              <a:t>CAMPUSLOOP  ·  HACKATHON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69786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6492240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83080"/>
            <a:ext cx="5943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35A3C"/>
                </a:solidFill>
                <a:latin typeface="Aptos"/>
              </a:defRPr>
            </a:pPr>
            <a:r>
              <a:t>ACTIVITY EXPLORER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331720"/>
            <a:ext cx="777240" cy="502920"/>
          </a:xfrm>
          <a:prstGeom prst="roundRect">
            <a:avLst/>
          </a:prstGeom>
          <a:solidFill>
            <a:srgbClr val="E3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78024"/>
            <a:ext cx="6858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800" b="1">
                <a:solidFill>
                  <a:srgbClr val="235A3C"/>
                </a:solidFill>
                <a:latin typeface="Aptos"/>
              </a:defRPr>
            </a:pPr>
            <a:r>
              <a:t>DAY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331720"/>
            <a:ext cx="4480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026"/>
                </a:solidFill>
                <a:latin typeface="Aptos"/>
              </a:defRPr>
            </a:pPr>
            <a:r>
              <a:t>Sustainable Campus Workshop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679191"/>
            <a:ext cx="44805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9786D"/>
                </a:solidFill>
                <a:latin typeface="Aptos"/>
              </a:defRPr>
            </a:pPr>
            <a:r>
              <a:t>UPCOMING · Workshop · hands-on learning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3291839"/>
            <a:ext cx="777240" cy="502920"/>
          </a:xfrm>
          <a:prstGeom prst="roundRect">
            <a:avLst/>
          </a:prstGeom>
          <a:solidFill>
            <a:srgbClr val="E3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38144"/>
            <a:ext cx="6858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800" b="1">
                <a:solidFill>
                  <a:srgbClr val="235A3C"/>
                </a:solidFill>
                <a:latin typeface="Aptos"/>
              </a:defRPr>
            </a:pPr>
            <a:r>
              <a:t>DAY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291839"/>
            <a:ext cx="4480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026"/>
                </a:solidFill>
                <a:latin typeface="Aptos"/>
              </a:defRPr>
            </a:pPr>
            <a:r>
              <a:t>Inter-Department Design Sprint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639311"/>
            <a:ext cx="44805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9786D"/>
                </a:solidFill>
                <a:latin typeface="Aptos"/>
              </a:defRPr>
            </a:pPr>
            <a:r>
              <a:t>UPCOMING · Competition · team challenge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4251960"/>
            <a:ext cx="777240" cy="502920"/>
          </a:xfrm>
          <a:prstGeom prst="roundRect">
            <a:avLst/>
          </a:prstGeom>
          <a:solidFill>
            <a:srgbClr val="E3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398264"/>
            <a:ext cx="6858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800" b="1">
                <a:solidFill>
                  <a:srgbClr val="235A3C"/>
                </a:solidFill>
                <a:latin typeface="Aptos"/>
              </a:defRPr>
            </a:pPr>
            <a:r>
              <a:t>DAY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4251960"/>
            <a:ext cx="4480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026"/>
                </a:solidFill>
                <a:latin typeface="Aptos"/>
              </a:defRPr>
            </a:pPr>
            <a:r>
              <a:t>Campus Fest Poster Jam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4599432"/>
            <a:ext cx="44805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9786D"/>
                </a:solidFill>
                <a:latin typeface="Aptos"/>
              </a:defRPr>
            </a:pPr>
            <a:r>
              <a:t>UPCOMING · College Fest · creative opportunity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1554480"/>
            <a:ext cx="36118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1737360"/>
            <a:ext cx="319125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35A3C"/>
                </a:solidFill>
                <a:latin typeface="Aptos"/>
              </a:defRPr>
            </a:pPr>
            <a:r>
              <a:t>ADMIN CONTROLS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2194560"/>
            <a:ext cx="3191256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Create, edit, delete, and configure the optional activity reward.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3611880"/>
            <a:ext cx="36118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3794760"/>
            <a:ext cx="319125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6AD72"/>
                </a:solidFill>
                <a:latin typeface="Aptos"/>
              </a:defRPr>
            </a:pPr>
            <a:r>
              <a:t>STUDENT 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5552" y="4251960"/>
            <a:ext cx="3191256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Search, category filters, list and month calendar. Dates drive Upcoming / Ongoing / Completed.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6144768"/>
            <a:ext cx="102412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000" b="1">
                <a:solidFill>
                  <a:srgbClr val="69786D"/>
                </a:solidFill>
                <a:latin typeface="Aptos"/>
              </a:defRPr>
            </a:pPr>
            <a:r>
              <a:t>Seeded activity examples are explicitly labeled demo samples—not verified college events.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5A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D7F067"/>
                </a:solidFill>
                <a:latin typeface="Aptos"/>
              </a:defRPr>
            </a:pPr>
            <a:r>
              <a:t>06 · AI ARCHITECTURE &amp;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Gemma 4 helps explain the loop—not control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800" b="1">
                <a:solidFill>
                  <a:srgbClr val="C9D8CB"/>
                </a:solidFill>
                <a:latin typeface="Aptos"/>
              </a:defRPr>
            </a:pPr>
            <a:r>
              <a:t>CAMPUSLOOP  ·  HACKATHON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C9D8C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3246120" cy="2286000"/>
          </a:xfrm>
          <a:prstGeom prst="roundRect">
            <a:avLst/>
          </a:prstGeom>
          <a:solidFill>
            <a:srgbClr val="2C6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783080"/>
            <a:ext cx="282549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7F067"/>
                </a:solidFill>
                <a:latin typeface="Aptos"/>
              </a:defRPr>
            </a:pPr>
            <a:r>
              <a:t>STUDENT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40280"/>
            <a:ext cx="2825496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E7EFE8"/>
                </a:solidFill>
                <a:latin typeface="Aptos"/>
              </a:defRPr>
            </a:pPr>
            <a:r>
              <a:t>Ask about rules, affordable rewards, activities, creative opportunities, or own order status.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1600200"/>
            <a:ext cx="3246120" cy="2286000"/>
          </a:xfrm>
          <a:prstGeom prst="roundRect">
            <a:avLst/>
          </a:prstGeom>
          <a:solidFill>
            <a:srgbClr val="2C6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2584" y="1783080"/>
            <a:ext cx="282549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7F067"/>
                </a:solidFill>
                <a:latin typeface="Aptos"/>
              </a:defRPr>
            </a:pPr>
            <a:r>
              <a:t>VERIFIED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2584" y="2240280"/>
            <a:ext cx="2825496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E7EFE8"/>
                </a:solidFill>
                <a:latin typeface="Aptos"/>
              </a:defRPr>
            </a:pPr>
            <a:r>
              <a:t>Backend selects only the relevant signed-in student's balance, prices, activity rows, or own orders.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00200"/>
            <a:ext cx="3246120" cy="2286000"/>
          </a:xfrm>
          <a:prstGeom prst="roundRect">
            <a:avLst/>
          </a:prstGeom>
          <a:solidFill>
            <a:srgbClr val="2C6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1783080"/>
            <a:ext cx="282549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7F067"/>
                </a:solidFill>
                <a:latin typeface="Aptos"/>
              </a:defRPr>
            </a:pPr>
            <a:r>
              <a:t>GEMMA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2" y="2240280"/>
            <a:ext cx="2825496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E7EFE8"/>
                </a:solidFill>
                <a:latin typeface="Aptos"/>
              </a:defRPr>
            </a:pPr>
            <a:r>
              <a:t>Exact model: gemma-4-26b-a4b-it</a:t>
            </a:r>
          </a:p>
          <a:p>
            <a:pPr>
              <a:spcAft>
                <a:spcPts val="800"/>
              </a:spcAft>
              <a:defRPr sz="1200" b="0">
                <a:solidFill>
                  <a:srgbClr val="E7EFE8"/>
                </a:solidFill>
                <a:latin typeface="Aptos"/>
              </a:defRPr>
            </a:pPr>
            <a:r>
              <a:t>Google GenAI API · server-side key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3632" y="2560320"/>
            <a:ext cx="411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1100"/>
              </a:spcAft>
              <a:defRPr sz="2000" b="1">
                <a:solidFill>
                  <a:srgbClr val="D7F06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560320"/>
            <a:ext cx="411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1100"/>
              </a:spcAft>
              <a:defRPr sz="2000" b="1">
                <a:solidFill>
                  <a:srgbClr val="D7F06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4389120"/>
            <a:ext cx="9784080" cy="1051560"/>
          </a:xfrm>
          <a:prstGeom prst="roundRect">
            <a:avLst/>
          </a:prstGeom>
          <a:solidFill>
            <a:srgbClr val="2C6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4663440"/>
            <a:ext cx="9235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No model fallback · no invented account facts · no direct token/order/submission actions · explicit unavailable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06440"/>
            <a:ext cx="101498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D8E7DA"/>
                </a:solidFill>
                <a:latin typeface="Aptos"/>
              </a:defRPr>
            </a:pPr>
            <a:r>
              <a:t>AI is a read-only guide. SQLite records and validated backend routes remain authoritative.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35A3C"/>
                </a:solidFill>
                <a:latin typeface="Aptos"/>
              </a:defRPr>
            </a:pPr>
            <a:r>
              <a:t>07 · ORDER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E3026"/>
                </a:solidFill>
                <a:latin typeface="Aptos Display"/>
              </a:defRPr>
            </a:pPr>
            <a:r>
              <a:t>Canteen orders are persisted, priced, and refundable by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800" b="1">
                <a:solidFill>
                  <a:srgbClr val="69786D"/>
                </a:solidFill>
                <a:latin typeface="Aptos"/>
              </a:defRPr>
            </a:pPr>
            <a:r>
              <a:t>CAMPUSLOOP  ·  HACKATHON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69786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24231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2103120"/>
            <a:ext cx="20025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35A3C"/>
                </a:solidFill>
                <a:latin typeface="Aptos"/>
              </a:defRPr>
            </a:pPr>
            <a:r>
              <a:t>Cart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560320"/>
            <a:ext cx="2002536" cy="14173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Menu item IDs + quantities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3552" y="2743200"/>
            <a:ext cx="329184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1100"/>
              </a:spcAft>
              <a:defRPr sz="2100" b="1">
                <a:solidFill>
                  <a:srgbClr val="235A3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920240"/>
            <a:ext cx="24231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67912" y="2103120"/>
            <a:ext cx="20025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35A3C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7912" y="2560320"/>
            <a:ext cx="2002536" cy="14173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Server price + 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8192" y="2743200"/>
            <a:ext cx="329184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1100"/>
              </a:spcAft>
              <a:defRPr sz="2100" b="1">
                <a:solidFill>
                  <a:srgbClr val="235A3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920240"/>
            <a:ext cx="24231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2552" y="2103120"/>
            <a:ext cx="20025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35A3C"/>
                </a:solidFill>
                <a:latin typeface="Aptos"/>
              </a:defRPr>
            </a:pPr>
            <a:r>
              <a:t>Commit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2552" y="2560320"/>
            <a:ext cx="2002536" cy="14173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Order, items, ledger debit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2832" y="2743200"/>
            <a:ext cx="329184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1100"/>
              </a:spcAft>
              <a:defRPr sz="2100" b="1">
                <a:solidFill>
                  <a:srgbClr val="235A3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1920240"/>
            <a:ext cx="24231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37192" y="2103120"/>
            <a:ext cx="20025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6AD72"/>
                </a:solidFill>
                <a:latin typeface="Aptos"/>
              </a:defRPr>
            </a:pPr>
            <a:r>
              <a:t>Fulfil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7192" y="2560320"/>
            <a:ext cx="2002536" cy="14173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Pending → Preparing → Ready → Completed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663440"/>
            <a:ext cx="10241280" cy="868680"/>
          </a:xfrm>
          <a:prstGeom prst="roundRect">
            <a:avLst/>
          </a:prstGeom>
          <a:solidFill>
            <a:srgbClr val="E3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4892040"/>
            <a:ext cx="969264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235A3C"/>
                </a:solidFill>
                <a:latin typeface="Aptos"/>
              </a:defRPr>
            </a:pPr>
            <a:r>
              <a:t>Cancellation: only while Pending. Status and refund are atomic; a unique ledger guard prevents double refunds.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833872"/>
            <a:ext cx="9692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Students see only their own database-backed order history.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35A3C"/>
                </a:solidFill>
                <a:latin typeface="Aptos"/>
              </a:defRPr>
            </a:pPr>
            <a:r>
              <a:t>08 · DEMO PLAN &amp; INTENDED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E3026"/>
                </a:solidFill>
                <a:latin typeface="Aptos Display"/>
              </a:defRPr>
            </a:pPr>
            <a:r>
              <a:t>A demo that shows the full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800" b="1">
                <a:solidFill>
                  <a:srgbClr val="69786D"/>
                </a:solidFill>
                <a:latin typeface="Aptos"/>
              </a:defRPr>
            </a:pPr>
            <a:r>
              <a:t>CAMPUSLOOP  ·  HACKATHON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69786D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37360"/>
            <a:ext cx="479145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35A3C"/>
                </a:solidFill>
                <a:latin typeface="Aptos"/>
              </a:defRPr>
            </a:pPr>
            <a:r>
              <a:t>LIVE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194560"/>
            <a:ext cx="4791456" cy="2788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1 · Student wallet + 100-token smoothie</a:t>
            </a:r>
          </a:p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2 · Place order; follow status in Admin</a:t>
            </a:r>
          </a:p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3 · Browse sample activities; request participation</a:t>
            </a:r>
          </a:p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4 · Submit artwork; admin configures and approves reward</a:t>
            </a:r>
          </a:p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5 · Ask Gemma about affordable rewards / order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21208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737360"/>
            <a:ext cx="479145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6AD72"/>
                </a:solidFill>
                <a:latin typeface="Aptos"/>
              </a:defRPr>
            </a:pPr>
            <a:r>
              <a:t>WHAT TO MEASURE 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194560"/>
            <a:ext cx="4791456" cy="2788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Pilot with one campus canteen and student club.</a:t>
            </a:r>
          </a:p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Track activity discovery → participation, creative submissions approved, token redemption, repeat visits, and student satisfaction.</a:t>
            </a:r>
          </a:p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Targets belong to a real pilot—not fabricated demo outcomes.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66928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69786D"/>
                </a:solidFill>
                <a:latin typeface="Aptos"/>
              </a:defRPr>
            </a:pPr>
            <a:r>
              <a:t>Seeded balances, accounts, and sample activities are demo data; no real institution is implied.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5A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D7F067"/>
                </a:solidFill>
                <a:latin typeface="Aptos"/>
              </a:defRPr>
            </a:pPr>
            <a:r>
              <a:t>09 · IMPACT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A focused foundation—with room to grow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800" b="1">
                <a:solidFill>
                  <a:srgbClr val="C9D8CB"/>
                </a:solidFill>
                <a:latin typeface="Aptos"/>
              </a:defRPr>
            </a:pPr>
            <a:r>
              <a:t>CAMPUSLOOP  ·  HACKATHON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C9D8C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3246120" cy="3383280"/>
          </a:xfrm>
          <a:prstGeom prst="roundRect">
            <a:avLst/>
          </a:prstGeom>
          <a:solidFill>
            <a:srgbClr val="2C6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783080"/>
            <a:ext cx="282549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7F067"/>
                </a:solidFill>
                <a:latin typeface="Aptos"/>
              </a:defRPr>
            </a:pPr>
            <a: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40280"/>
            <a:ext cx="282549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E7EFE8"/>
                </a:solidFill>
                <a:latin typeface="Aptos"/>
              </a:defRPr>
            </a:pPr>
            <a:r>
              <a:t>Transparent wallet &amp; ledger</a:t>
            </a:r>
          </a:p>
          <a:p>
            <a:pPr>
              <a:spcAft>
                <a:spcPts val="800"/>
              </a:spcAft>
              <a:defRPr sz="1200" b="0">
                <a:solidFill>
                  <a:srgbClr val="E7EFE8"/>
                </a:solidFill>
                <a:latin typeface="Aptos"/>
              </a:defRPr>
            </a:pPr>
            <a:r>
              <a:t>Canteen orders &amp; safe refunds</a:t>
            </a:r>
          </a:p>
          <a:p>
            <a:pPr>
              <a:spcAft>
                <a:spcPts val="800"/>
              </a:spcAft>
              <a:defRPr sz="1200" b="0">
                <a:solidFill>
                  <a:srgbClr val="E7EFE8"/>
                </a:solidFill>
                <a:latin typeface="Aptos"/>
              </a:defRPr>
            </a:pPr>
            <a:r>
              <a:t>Reviewed creative contributions</a:t>
            </a:r>
          </a:p>
          <a:p>
            <a:pPr>
              <a:spcAft>
                <a:spcPts val="800"/>
              </a:spcAft>
              <a:defRPr sz="1200" b="0">
                <a:solidFill>
                  <a:srgbClr val="E7EFE8"/>
                </a:solidFill>
                <a:latin typeface="Aptos"/>
              </a:defRPr>
            </a:pPr>
            <a:r>
              <a:t>Admin academic calendar</a:t>
            </a:r>
          </a:p>
          <a:p>
            <a:pPr>
              <a:spcAft>
                <a:spcPts val="800"/>
              </a:spcAft>
              <a:defRPr sz="1200" b="0">
                <a:solidFill>
                  <a:srgbClr val="E7EFE8"/>
                </a:solidFill>
                <a:latin typeface="Aptos"/>
              </a:defRPr>
            </a:pPr>
            <a:r>
              <a:t>Verified-data Gemma assistant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1600200"/>
            <a:ext cx="3246120" cy="3383280"/>
          </a:xfrm>
          <a:prstGeom prst="roundRect">
            <a:avLst/>
          </a:prstGeom>
          <a:solidFill>
            <a:srgbClr val="2C6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2584" y="1783080"/>
            <a:ext cx="282549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7F067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2584" y="2240280"/>
            <a:ext cx="282549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E7EFE8"/>
                </a:solidFill>
                <a:latin typeface="Aptos"/>
              </a:defRPr>
            </a:pPr>
            <a:r>
              <a:t>Pilot with student groups</a:t>
            </a:r>
          </a:p>
          <a:p>
            <a:pPr>
              <a:spcAft>
                <a:spcPts val="800"/>
              </a:spcAft>
              <a:defRPr sz="1200" b="0">
                <a:solidFill>
                  <a:srgbClr val="E7EFE8"/>
                </a:solidFill>
                <a:latin typeface="Aptos"/>
              </a:defRPr>
            </a:pPr>
            <a:r>
              <a:t>Institution system integrations</a:t>
            </a:r>
          </a:p>
          <a:p>
            <a:pPr>
              <a:spcAft>
                <a:spcPts val="800"/>
              </a:spcAft>
              <a:defRPr sz="1200" b="0">
                <a:solidFill>
                  <a:srgbClr val="E7EFE8"/>
                </a:solidFill>
                <a:latin typeface="Aptos"/>
              </a:defRPr>
            </a:pPr>
            <a:r>
              <a:t>Accessibility and localization</a:t>
            </a:r>
          </a:p>
          <a:p>
            <a:pPr>
              <a:spcAft>
                <a:spcPts val="800"/>
              </a:spcAft>
              <a:defRPr sz="1200" b="0">
                <a:solidFill>
                  <a:srgbClr val="E7EFE8"/>
                </a:solidFill>
                <a:latin typeface="Aptos"/>
              </a:defRPr>
            </a:pPr>
            <a:r>
              <a:t>Operations analytics</a:t>
            </a:r>
          </a:p>
          <a:p>
            <a:pPr>
              <a:spcAft>
                <a:spcPts val="800"/>
              </a:spcAft>
              <a:defRPr sz="1200" b="0">
                <a:solidFill>
                  <a:srgbClr val="E7EFE8"/>
                </a:solidFill>
                <a:latin typeface="Aptos"/>
              </a:defRPr>
            </a:pPr>
            <a:r>
              <a:t>Institution identity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00200"/>
            <a:ext cx="3246120" cy="3383280"/>
          </a:xfrm>
          <a:prstGeom prst="roundRect">
            <a:avLst/>
          </a:prstGeom>
          <a:solidFill>
            <a:srgbClr val="2C6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1783080"/>
            <a:ext cx="282549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7F067"/>
                </a:solidFill>
                <a:latin typeface="Aptos"/>
              </a:defRPr>
            </a:pPr>
            <a:r>
              <a:t>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2" y="2240280"/>
            <a:ext cx="282549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E7EFE8"/>
                </a:solidFill>
                <a:latin typeface="Aptos"/>
              </a:defRPr>
            </a:pPr>
            <a:r>
              <a:t>A campus where useful participation is discoverable, creativity is valued, and rewards reinforce community—without compromising trust.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102412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1100"/>
              </a:spcAft>
              <a:defRPr sz="2000" b="1">
                <a:solidFill>
                  <a:srgbClr val="D7F067"/>
                </a:solidFill>
                <a:latin typeface="Aptos"/>
              </a:defRPr>
            </a:pPr>
            <a:r>
              <a:t>CampusLoop · Make campus count.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35A3C"/>
                </a:solidFill>
                <a:latin typeface="Aptos"/>
              </a:defRPr>
            </a:pPr>
            <a:r>
              <a:t>10 · WEEKLY ATTENDANCE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E3026"/>
                </a:solidFill>
                <a:latin typeface="Aptos Display"/>
              </a:defRPr>
            </a:pPr>
            <a:r>
              <a:t>Attendance rewards are calculated from finalized class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800" b="1">
                <a:solidFill>
                  <a:srgbClr val="69786D"/>
                </a:solidFill>
                <a:latin typeface="Aptos"/>
              </a:defRPr>
            </a:pPr>
            <a:r>
              <a:t>CAMPUSLOOP  ·  HACKATHON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69786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290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37360"/>
            <a:ext cx="300837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35A3C"/>
                </a:solidFill>
                <a:latin typeface="Aptos"/>
              </a:defRPr>
            </a:pPr>
            <a:r>
              <a:t>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194560"/>
            <a:ext cx="3008376" cy="2743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Admins configure classes, sections, subjects, sessions, enrollments, and teacher assignments.</a:t>
            </a:r>
          </a:p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Assigned teachers mark every enrolled student Present or Absent; duplicates are blocked.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554480"/>
            <a:ext cx="34290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737360"/>
            <a:ext cx="300837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6AD72"/>
                </a:solidFill>
                <a:latin typeface="Aptos"/>
              </a:defRPr>
            </a:pPr>
            <a:r>
              <a:t>CALCULATE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2194560"/>
            <a:ext cx="3008376" cy="2743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Monday 00:00 → next Monday 00:00 in the configured college timezone.</a:t>
            </a:r>
          </a:p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Only completed weeks with all sessions finalized can qualify.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554480"/>
            <a:ext cx="34290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0456" y="1737360"/>
            <a:ext cx="300837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35A3C"/>
                </a:solidFill>
                <a:latin typeface="Aptos"/>
              </a:defRPr>
            </a:pPr>
            <a:r>
              <a:t>ISSUE ONCE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2194560"/>
            <a:ext cx="3008376" cy="2743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&lt;70%: 0 · 70–&lt;80%: 200 · 80–&lt;90%: 300 · 90–100%: 500 tokens.</a:t>
            </a:r>
          </a:p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200" b="0">
                <a:solidFill>
                  <a:srgbClr val="69786D"/>
                </a:solidFill>
                <a:latin typeface="Aptos"/>
              </a:defRPr>
            </a:pPr>
            <a:r>
              <a:t>Highest tier only. Unique student/week reward and ledger entry commit atomically.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532120"/>
            <a:ext cx="102412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235A3C"/>
                </a:solidFill>
                <a:latin typeface="Aptos"/>
              </a:defRPr>
            </a:pPr>
            <a:r>
              <a:t>Corrections are reasoned and audited. Post-award changes require an explicit admin adjustment; historical ledger entries are never rewritten.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